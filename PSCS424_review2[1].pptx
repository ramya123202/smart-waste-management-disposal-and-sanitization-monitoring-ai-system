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0"/>
  </p:notesMasterIdLst>
  <p:sldIdLst>
    <p:sldId id="256" r:id="rId5"/>
    <p:sldId id="269" r:id="rId6"/>
    <p:sldId id="272" r:id="rId7"/>
    <p:sldId id="257" r:id="rId8"/>
    <p:sldId id="274" r:id="rId9"/>
    <p:sldId id="277" r:id="rId10"/>
    <p:sldId id="279" r:id="rId11"/>
    <p:sldId id="280" r:id="rId12"/>
    <p:sldId id="275" r:id="rId13"/>
    <p:sldId id="276" r:id="rId14"/>
    <p:sldId id="278" r:id="rId15"/>
    <p:sldId id="268" r:id="rId16"/>
    <p:sldId id="270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BEB1CA1-08EB-EB77-14F2-CE7DAABC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15A8594-4B30-CBFF-0972-D6B1D2522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31563C1-2016-4BC1-A0F6-F53014975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0968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32C861A-06C9-EA38-A599-5E70EC3B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AF912F9-5560-C854-BBC1-0D40445B2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9AE90DB-3387-F229-5152-073983087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757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434482" y="1194148"/>
            <a:ext cx="933704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Smart Waste Management, Disposal and Sanitization Monitoring AI System</a:t>
            </a:r>
            <a:endParaRPr sz="1800" dirty="0">
              <a:solidFill>
                <a:schemeClr val="tx1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48639" y="2157046"/>
            <a:ext cx="2753361" cy="51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400" dirty="0">
                <a:latin typeface="+mj-lt"/>
                <a:ea typeface="Cambria" panose="02040503050406030204" pitchFamily="18" charset="0"/>
              </a:rPr>
              <a:t>Batch Number: </a:t>
            </a:r>
            <a:r>
              <a:rPr lang="en-IN" sz="1400" dirty="0">
                <a:latin typeface="+mj-lt"/>
                <a:ea typeface="Cambria" panose="02040503050406030204" pitchFamily="18" charset="0"/>
              </a:rPr>
              <a:t>PSCS_424</a:t>
            </a:r>
            <a:endParaRPr sz="14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049155" y="2885440"/>
            <a:ext cx="4657177" cy="145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               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Ms. Shet Reshma Prakash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442720" y="11395"/>
            <a:ext cx="9337040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000" dirty="0">
              <a:latin typeface="+mj-lt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2000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485668" y="4826001"/>
            <a:ext cx="6563487" cy="126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Verdana"/>
              </a:rPr>
              <a:t>B.Tech C.S.E</a:t>
            </a:r>
            <a:endParaRPr lang="en-US" b="1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b="1" dirty="0">
                <a:latin typeface="+mj-lt"/>
              </a:rPr>
              <a:t>Dr. Asif Mohammed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i="0" u="none" strike="noStrike" cap="none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b="1" dirty="0">
                <a:latin typeface="+mj-lt"/>
              </a:rPr>
              <a:t>Dr. Jayavadivel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b="1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6E5F89-EEF8-0122-7FF9-5F206F574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585873"/>
              </p:ext>
            </p:extLst>
          </p:nvPr>
        </p:nvGraphicFramePr>
        <p:xfrm>
          <a:off x="485668" y="2885440"/>
          <a:ext cx="5610332" cy="1451184"/>
        </p:xfrm>
        <a:graphic>
          <a:graphicData uri="http://schemas.openxmlformats.org/drawingml/2006/table">
            <a:tbl>
              <a:tblPr firstRow="1" bandRow="1"/>
              <a:tblGrid>
                <a:gridCol w="2789725">
                  <a:extLst>
                    <a:ext uri="{9D8B030D-6E8A-4147-A177-3AD203B41FA5}">
                      <a16:colId xmlns:a16="http://schemas.microsoft.com/office/drawing/2014/main" val="4087889410"/>
                    </a:ext>
                  </a:extLst>
                </a:gridCol>
                <a:gridCol w="2820607">
                  <a:extLst>
                    <a:ext uri="{9D8B030D-6E8A-4147-A177-3AD203B41FA5}">
                      <a16:colId xmlns:a16="http://schemas.microsoft.com/office/drawing/2014/main" val="2829666176"/>
                    </a:ext>
                  </a:extLst>
                </a:gridCol>
              </a:tblGrid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NAME</a:t>
                      </a:r>
                      <a:endParaRPr lang="en-IN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ROLL_NO</a:t>
                      </a:r>
                      <a:endParaRPr lang="en-IN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013183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JOYSON C 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20221CSE053</a:t>
                      </a:r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83524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RAMYA S V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20221CSE0550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371901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TEJAS N B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20221CSE0560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2849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43035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dirty="0">
                <a:latin typeface="+mn-lt"/>
                <a:ea typeface="Cambria" panose="02040503050406030204" pitchFamily="18" charset="0"/>
              </a:rPr>
              <a:t>DETAILS</a:t>
            </a:r>
            <a:endParaRPr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Organization:</a:t>
            </a:r>
            <a:r>
              <a:rPr lang="en-US" sz="1600" b="1" dirty="0">
                <a:latin typeface="+mn-lt"/>
                <a:ea typeface="Cambria" panose="02040503050406030204" pitchFamily="18" charset="0"/>
              </a:rPr>
              <a:t> </a:t>
            </a:r>
            <a:endParaRPr lang="en-US" sz="1600" b="1" dirty="0">
              <a:solidFill>
                <a:schemeClr val="tx1"/>
              </a:solidFill>
              <a:latin typeface="+mn-lt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Category: </a:t>
            </a:r>
            <a:r>
              <a:rPr lang="en-US" sz="1600" b="1" dirty="0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Software</a:t>
            </a:r>
            <a:endParaRPr lang="en-US" sz="1400" b="1" dirty="0">
              <a:solidFill>
                <a:schemeClr val="tx1"/>
              </a:solidFill>
              <a:latin typeface="+mn-lt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Problem Description</a:t>
            </a:r>
            <a:r>
              <a:rPr lang="en-US" sz="1600" b="1" dirty="0">
                <a:latin typeface="+mn-lt"/>
                <a:ea typeface="Cambria" panose="02040503050406030204" pitchFamily="18" charset="0"/>
              </a:rPr>
              <a:t>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Urban areas and campuses struggle with ineffective waste segregation and poor</a:t>
            </a:r>
            <a:r>
              <a:rPr lang="en-IN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sanitation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monitoring. Manual processes lead to delays, inefficiency, and environmental</a:t>
            </a:r>
            <a:r>
              <a:rPr lang="en-IN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pollution . Lack of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real-time tracking hampers timely waste collection and disposal . Public participation in proper waste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management is minimal . A smart, technology-driven solution is needed to ensure sustainable and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efficient waste handling.</a:t>
            </a:r>
            <a:endParaRPr lang="en-US" sz="2000" b="1" dirty="0">
              <a:latin typeface="+mn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80720" y="386398"/>
            <a:ext cx="108000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+mj-lt"/>
              </a:rPr>
              <a:t>Problem Statement</a:t>
            </a: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C3A957-14A2-574C-561A-D0D1A1A8C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671568"/>
            <a:ext cx="10769600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1800" dirty="0"/>
              <a:t> </a:t>
            </a:r>
            <a:r>
              <a:rPr lang="en-US" sz="2400" dirty="0"/>
              <a:t>Rapid urbanization and population growth are causing excessive waste generation, leading to environmental pollution and health risks.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Improper segregation of biodegradable, recyclable, and hazardous waste results in contamination and resource wastage.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Manual collection and disposal processes are inefficient, unhygienic, and prone to errors, with frequent delays and missed pickups.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Lack of proper sanitization logging after waste disposal reduces accountability and increases disease risks.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Minimal public awareness and absence of real-time digital platforms prevent active citizen participation in sustainable waste management.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43280" y="396558"/>
            <a:ext cx="24892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+mn-lt"/>
                <a:ea typeface="Cambria" panose="02040503050406030204" pitchFamily="18" charset="0"/>
              </a:rPr>
              <a:t>OBJECTIVE</a:t>
            </a:r>
            <a:endParaRPr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C29A37-D0DF-E6C8-5022-26ACC50A5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4837" y="1074509"/>
            <a:ext cx="1098232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To design a website-based platform integrating smart waste segregation,        disposal, and sanitization systems.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To implement an AI-powered waste classification system for identifying organic, recyclable, and hazardous waste.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To provide educational resources on proper waste management and sanitation practices.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To enable smart disposal tracking for monitoring waste handling efficiency.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To create a community idea-sharing hub for eco-friendly innovations.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0377D3-6299-3F98-9A59-5EF675D0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" y="3467854"/>
            <a:ext cx="11236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72042" y="190663"/>
            <a:ext cx="10668000" cy="487500"/>
          </a:xfrm>
        </p:spPr>
        <p:txBody>
          <a:bodyPr/>
          <a:lstStyle/>
          <a:p>
            <a:r>
              <a:rPr lang="en-US" dirty="0" smtClean="0"/>
              <a:t>Literature Survey(Overview)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4" y="1017036"/>
            <a:ext cx="10564652" cy="493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362270"/>
            <a:ext cx="10287000" cy="434806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47012" y="293300"/>
            <a:ext cx="7721700" cy="487500"/>
          </a:xfrm>
        </p:spPr>
        <p:txBody>
          <a:bodyPr/>
          <a:lstStyle/>
          <a:p>
            <a:r>
              <a:rPr lang="en-US" dirty="0" smtClean="0">
                <a:solidFill>
                  <a:schemeClr val="bg2"/>
                </a:solidFill>
              </a:rPr>
              <a:t>Literature Survey(Overview)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49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Proposed Method &amp; 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421" y="1563130"/>
            <a:ext cx="10668000" cy="4953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/>
              <a:t>Proposed Method &amp; Feasibility Study</a:t>
            </a:r>
          </a:p>
          <a:p>
            <a:pPr marL="76200" indent="0">
              <a:buNone/>
            </a:pPr>
            <a:r>
              <a:rPr lang="en-US" sz="1800" b="1" dirty="0"/>
              <a:t>AI Classification:</a:t>
            </a:r>
            <a:r>
              <a:rPr lang="en-US" sz="1800" dirty="0"/>
              <a:t> Detects organic, recyclable, and hazardous waste.</a:t>
            </a:r>
          </a:p>
          <a:p>
            <a:pPr marL="76200" indent="0">
              <a:buNone/>
            </a:pPr>
            <a:r>
              <a:rPr lang="en-US" sz="1800" b="1" dirty="0" err="1"/>
              <a:t>IoT</a:t>
            </a:r>
            <a:r>
              <a:rPr lang="en-US" sz="1800" b="1" dirty="0"/>
              <a:t> Smart Bins:</a:t>
            </a:r>
            <a:r>
              <a:rPr lang="en-US" sz="1800" dirty="0"/>
              <a:t> Sensors track bin level and sanitation.</a:t>
            </a:r>
          </a:p>
          <a:p>
            <a:pPr marL="76200" indent="0">
              <a:buNone/>
            </a:pPr>
            <a:r>
              <a:rPr lang="en-US" sz="1800" b="1" dirty="0"/>
              <a:t>Prediction:</a:t>
            </a:r>
            <a:r>
              <a:rPr lang="en-US" sz="1800" dirty="0"/>
              <a:t> ML models forecast waste and plan collection.</a:t>
            </a:r>
          </a:p>
          <a:p>
            <a:pPr marL="76200" indent="0">
              <a:buNone/>
            </a:pPr>
            <a:r>
              <a:rPr lang="en-US" sz="1800" b="1" dirty="0"/>
              <a:t>Sanitization Log:</a:t>
            </a:r>
            <a:r>
              <a:rPr lang="en-US" sz="1800" dirty="0"/>
              <a:t> Records cleaning activity with proof.</a:t>
            </a:r>
          </a:p>
          <a:p>
            <a:pPr marL="76200" indent="0">
              <a:buNone/>
            </a:pPr>
            <a:r>
              <a:rPr lang="en-US" sz="1800" b="1" dirty="0"/>
              <a:t>User Portal:</a:t>
            </a:r>
            <a:r>
              <a:rPr lang="en-US" sz="1800" dirty="0"/>
              <a:t> Dashboards for admin, workers, and citizens</a:t>
            </a:r>
            <a:r>
              <a:rPr lang="en-US" sz="1800" dirty="0" smtClean="0"/>
              <a:t>.</a:t>
            </a:r>
          </a:p>
          <a:p>
            <a:pPr marL="7620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/>
              <a:t>Feasibility:</a:t>
            </a:r>
            <a:endParaRPr lang="en-US" sz="1800" dirty="0"/>
          </a:p>
          <a:p>
            <a:pPr marL="76200" indent="0">
              <a:buNone/>
            </a:pPr>
            <a:r>
              <a:rPr lang="en-US" sz="1800" b="1" dirty="0"/>
              <a:t>Technology:</a:t>
            </a:r>
            <a:r>
              <a:rPr lang="en-US" sz="1800" dirty="0"/>
              <a:t> Uses proven AI and </a:t>
            </a:r>
            <a:r>
              <a:rPr lang="en-US" sz="1800" dirty="0" err="1"/>
              <a:t>IoT</a:t>
            </a:r>
            <a:r>
              <a:rPr lang="en-US" sz="1800" dirty="0"/>
              <a:t> tools.</a:t>
            </a:r>
          </a:p>
          <a:p>
            <a:pPr marL="76200" indent="0">
              <a:buNone/>
            </a:pPr>
            <a:r>
              <a:rPr lang="en-US" sz="1800" b="1" dirty="0"/>
              <a:t>Cost:</a:t>
            </a:r>
            <a:r>
              <a:rPr lang="en-US" sz="1800" dirty="0"/>
              <a:t> Low-cost sensors and free/open-source software.</a:t>
            </a:r>
          </a:p>
          <a:p>
            <a:pPr marL="76200" indent="0">
              <a:buNone/>
            </a:pPr>
            <a:r>
              <a:rPr lang="en-US" sz="1800" b="1" dirty="0"/>
              <a:t>Resources:</a:t>
            </a:r>
            <a:r>
              <a:rPr lang="en-US" sz="1800" dirty="0"/>
              <a:t> Easy to build with university labs and team skills.</a:t>
            </a:r>
          </a:p>
        </p:txBody>
      </p:sp>
    </p:spTree>
    <p:extLst>
      <p:ext uri="{BB962C8B-B14F-4D97-AF65-F5344CB8AC3E}">
        <p14:creationId xmlns:p14="http://schemas.microsoft.com/office/powerpoint/2010/main" val="180626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</a:t>
            </a:r>
            <a:r>
              <a:rPr lang="en-US" dirty="0" smtClean="0"/>
              <a:t>Diagram(rough)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74" y="1112108"/>
            <a:ext cx="5690852" cy="508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1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911B837-AA18-7E24-F660-2B038756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9F88223-8D91-AC5D-15EB-8A7E22197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 smtClean="0">
                <a:latin typeface="+mn-lt"/>
              </a:rPr>
              <a:t>Background and Related Work</a:t>
            </a:r>
            <a:endParaRPr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F606B4-B5D0-8534-5E45-DAC13C07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60" y="3467854"/>
            <a:ext cx="4480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-1056939"/>
            <a:ext cx="1567805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urbanization increases waste generation, while manual collection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cause inefficiency, pollution, and health hazards.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AI-based waste classification (CNNs, Transfer Learning) improves segregation accuracy but struggles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hazardous waste and real-world variability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smart bins (ultrasonic, gas, fill-level sensors) enable real-time monitoring but face power,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connectivity, and maintenance challenges.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Predictive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analytics (RF,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XGBoost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LSTM) and stochastic routing models reduce costs and emissions,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yet depend on reliable sensor data.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Research gaps remain 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post-disposal sanitization logging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arge-scale deployment, and integrated citizen-centric platforms.</a:t>
            </a:r>
          </a:p>
        </p:txBody>
      </p:sp>
    </p:spTree>
    <p:extLst>
      <p:ext uri="{BB962C8B-B14F-4D97-AF65-F5344CB8AC3E}">
        <p14:creationId xmlns:p14="http://schemas.microsoft.com/office/powerpoint/2010/main" val="377877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0331D23-BD4B-D118-B277-3A0DAB9A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E52B571-094A-5C9F-4F4C-45A259BF7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 smtClean="0">
                <a:latin typeface="Verdana" panose="020B0604030504040204" pitchFamily="34" charset="0"/>
                <a:ea typeface="Verdana" panose="020B0604030504040204" pitchFamily="34" charset="0"/>
              </a:rPr>
              <a:t>Analysis of Problem Statement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Technology Stack – Components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Frontend</a:t>
            </a:r>
            <a:r>
              <a:rPr lang="en-US" sz="2000" dirty="0"/>
              <a:t>: </a:t>
            </a:r>
            <a:r>
              <a:rPr lang="en-US" sz="1800" dirty="0"/>
              <a:t>HTML5, CSS3, JavaScript, Bootstrap/Tailwind CSS (responsive UI).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Backend</a:t>
            </a:r>
            <a:r>
              <a:rPr lang="en-US" sz="2000" dirty="0"/>
              <a:t>: Node.js, Express.js (REST APIs, logic handling).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AI/ML</a:t>
            </a:r>
            <a:r>
              <a:rPr lang="en-US" dirty="0"/>
              <a:t>: </a:t>
            </a:r>
            <a:r>
              <a:rPr lang="en-US" sz="2000" dirty="0"/>
              <a:t>Python (waste classification, predictive analytics, missed-collection detection).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Database</a:t>
            </a:r>
            <a:r>
              <a:rPr lang="en-US" sz="2000" dirty="0"/>
              <a:t>: MySQL (users, waste logs, sanitization records).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Integrations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Google Maps API → Geo-tagging bins, mapping collection routes.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err="1"/>
              <a:t>Twilio</a:t>
            </a:r>
            <a:r>
              <a:rPr lang="en-US" sz="1800" dirty="0"/>
              <a:t>/SMTP → SMS &amp; email alerts.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Hosting</a:t>
            </a:r>
            <a:r>
              <a:rPr lang="en-US" sz="2000" dirty="0"/>
              <a:t>: GitHub Pages / </a:t>
            </a:r>
            <a:r>
              <a:rPr lang="en-US" sz="2000" dirty="0" err="1"/>
              <a:t>Netlify</a:t>
            </a:r>
            <a:r>
              <a:rPr lang="en-US" sz="2000" dirty="0"/>
              <a:t> (frontend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A6521-D973-8774-87FD-505E9AC2C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60" y="3467854"/>
            <a:ext cx="4480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12E4E-3ECD-29FF-795F-B7DC032132E3}"/>
              </a:ext>
            </a:extLst>
          </p:cNvPr>
          <p:cNvSpPr txBox="1"/>
          <p:nvPr/>
        </p:nvSpPr>
        <p:spPr>
          <a:xfrm>
            <a:off x="843280" y="1158240"/>
            <a:ext cx="5222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3D8D7-5D20-CDCA-A81A-B4BE4F22DA48}"/>
              </a:ext>
            </a:extLst>
          </p:cNvPr>
          <p:cNvSpPr txBox="1"/>
          <p:nvPr/>
        </p:nvSpPr>
        <p:spPr>
          <a:xfrm>
            <a:off x="6096000" y="1158240"/>
            <a:ext cx="5608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37316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</a:rPr>
              <a:t>Analysis of Problem Statement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728826" y="1460242"/>
            <a:ext cx="10668000" cy="37835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Software &amp; Hardware Requirements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Operating System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Windows / Linux</a:t>
            </a:r>
            <a:endParaRPr lang="en-US" sz="1800" dirty="0">
              <a:solidFill>
                <a:srgbClr val="0D0D0D"/>
              </a:solidFill>
              <a:latin typeface="ui-sans-serif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Development Tools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VS Code, Node.js runtime, Python IDE </a:t>
            </a:r>
            <a:r>
              <a:rPr lang="en-US" sz="2000" dirty="0" smtClean="0">
                <a:solidFill>
                  <a:srgbClr val="0D0D0D"/>
                </a:solidFill>
                <a:latin typeface="ui-sans-serif"/>
              </a:rPr>
              <a:t>(</a:t>
            </a:r>
            <a:r>
              <a:rPr lang="en-US" sz="2000" dirty="0" err="1" smtClean="0">
                <a:solidFill>
                  <a:srgbClr val="0D0D0D"/>
                </a:solidFill>
                <a:latin typeface="ui-sans-serif"/>
              </a:rPr>
              <a:t>Jupyter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Database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MySQL server for storage of user, waste, and sanitization records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APIs/Services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Google Maps API (geo-tagging</a:t>
            </a:r>
            <a:r>
              <a:rPr lang="en-US" sz="2000" dirty="0" smtClean="0">
                <a:solidFill>
                  <a:srgbClr val="0D0D0D"/>
                </a:solidFill>
                <a:latin typeface="ui-sans-serif"/>
              </a:rPr>
              <a:t>)</a:t>
            </a:r>
            <a:endParaRPr lang="en-US" dirty="0">
              <a:solidFill>
                <a:srgbClr val="0D0D0D"/>
              </a:solidFill>
              <a:latin typeface="ui-sans-serif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Version Control &amp; Hosting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GitHub, </a:t>
            </a:r>
            <a:r>
              <a:rPr lang="en-US" sz="2000" dirty="0" err="1">
                <a:solidFill>
                  <a:srgbClr val="0D0D0D"/>
                </a:solidFill>
                <a:latin typeface="ui-sans-serif"/>
              </a:rPr>
              <a:t>Netlify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 </a:t>
            </a:r>
            <a:endParaRPr lang="en-US" dirty="0">
              <a:solidFill>
                <a:srgbClr val="0D0D0D"/>
              </a:solidFill>
              <a:latin typeface="ui-sans-serif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Server Deployment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Cloud instance (2–4 cores, 8GB RAM, 100GB storage)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0D0D"/>
                </a:solidFill>
                <a:latin typeface="ui-sans-serif"/>
              </a:rPr>
              <a:t>End User Devices</a:t>
            </a:r>
            <a:r>
              <a:rPr lang="en-US" b="1" dirty="0">
                <a:solidFill>
                  <a:srgbClr val="0D0D0D"/>
                </a:solidFill>
                <a:latin typeface="ui-sans-serif"/>
              </a:rPr>
              <a:t>: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 </a:t>
            </a:r>
            <a:r>
              <a:rPr lang="en-US" sz="2000" dirty="0">
                <a:solidFill>
                  <a:srgbClr val="0D0D0D"/>
                </a:solidFill>
                <a:latin typeface="ui-sans-serif"/>
              </a:rPr>
              <a:t>PC/Laptop with modern browser, Smartphone (citizen app)</a:t>
            </a:r>
            <a:endParaRPr lang="en-US" dirty="0">
              <a:solidFill>
                <a:srgbClr val="0D0D0D"/>
              </a:solidFill>
              <a:latin typeface="ui-sans-serif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1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295400"/>
            <a:ext cx="10820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70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altLang="en-US" sz="23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         https://github.com/Ramya123202/Clean-and-Green-technology.git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z="46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000" dirty="0">
                <a:latin typeface="+mn-lt"/>
                <a:ea typeface="Cambria" panose="02040503050406030204" pitchFamily="18" charset="0"/>
              </a:rPr>
              <a:t>Timeline of the Project 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150FC3-6BBE-0F42-A9EF-B5A1A1EBC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0"/>
            <a:ext cx="10488613" cy="495300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78AB6-24AB-550D-2E3F-78A6B9DC1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36" y="952499"/>
            <a:ext cx="10723564" cy="514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41687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z="2000" dirty="0">
                <a:latin typeface="+mn-lt"/>
                <a:ea typeface="Cambria" panose="02040503050406030204" pitchFamily="18" charset="0"/>
              </a:rPr>
              <a:t>References (IEEE Paper format)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528638" y="904378"/>
            <a:ext cx="10952162" cy="519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S. Navghane, M. S. Killedar, and V.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Rohokale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"IoT based smart garbage and waste collection bin," IJARECE, vol. 5, no. 5, May 2016.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F. M. Sultan, M. R. I. Faruque, and M. A. Rashid, "Smart waste management system using IoT," Proc. 3rd Int. Conf. Electrical Engineering and ICT, Dhaka, 2016.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Sharma and A. Kumar, "AI-driven waste segregation and recycling management," IEEE Access, 2020.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A. Hannan, et al., "A review of smart waste management: Issues, challenges, and opportunities," IEEE Access, 2018.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R. S. Kumar and P. Shanthini, "Waste management using IoT and machine learning approaches," Journal of Environmental Research and Development, 2021.</a:t>
            </a:r>
          </a:p>
          <a:p>
            <a:pPr marL="152400" indent="0">
              <a:spcBef>
                <a:spcPts val="0"/>
              </a:spcBef>
              <a:buNone/>
            </a:pPr>
            <a:endParaRPr sz="1200" dirty="0">
              <a:latin typeface="+mn-lt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50f434-8884-451b-956f-1819749fd74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1DDB871361914C92E59AEC9AD0EF2A" ma:contentTypeVersion="10" ma:contentTypeDescription="Create a new document." ma:contentTypeScope="" ma:versionID="8cd229de15c1096e0f11a07052de889c">
  <xsd:schema xmlns:xsd="http://www.w3.org/2001/XMLSchema" xmlns:xs="http://www.w3.org/2001/XMLSchema" xmlns:p="http://schemas.microsoft.com/office/2006/metadata/properties" xmlns:ns3="d450f434-8884-451b-956f-1819749fd748" targetNamespace="http://schemas.microsoft.com/office/2006/metadata/properties" ma:root="true" ma:fieldsID="0dd65abc612a32fe00759cd589969e5b" ns3:_="">
    <xsd:import namespace="d450f434-8884-451b-956f-1819749fd7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0f434-8884-451b-956f-1819749fd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195DC0-2B0E-42B3-A622-E2CDACDB8599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d450f434-8884-451b-956f-1819749fd748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52B59E-83A0-425F-B787-3BC304F9A8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BB72E-3151-4719-A471-684228DBF7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0f434-8884-451b-956f-1819749fd7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831</Words>
  <Application>Microsoft Office PowerPoint</Application>
  <PresentationFormat>Widescreen</PresentationFormat>
  <Paragraphs>126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Bookman Old Style</vt:lpstr>
      <vt:lpstr>Calibri</vt:lpstr>
      <vt:lpstr>Cambria</vt:lpstr>
      <vt:lpstr>Times New Roman</vt:lpstr>
      <vt:lpstr>ui-sans-serif</vt:lpstr>
      <vt:lpstr>Verdana</vt:lpstr>
      <vt:lpstr>Wingdings</vt:lpstr>
      <vt:lpstr>Bioinformatics</vt:lpstr>
      <vt:lpstr>Smart Waste Management, Disposal and Sanitization Monitoring AI System</vt:lpstr>
      <vt:lpstr>DETAILS</vt:lpstr>
      <vt:lpstr>Problem Statement</vt:lpstr>
      <vt:lpstr>OBJECTIVE</vt:lpstr>
      <vt:lpstr>Literature Survey(Overview)</vt:lpstr>
      <vt:lpstr>Literature Survey(Overview)</vt:lpstr>
      <vt:lpstr>Proposed Method &amp; Feasibility Study</vt:lpstr>
      <vt:lpstr>Architecture Diagram(rough)</vt:lpstr>
      <vt:lpstr>Background and Related Work</vt:lpstr>
      <vt:lpstr>Analysis of Problem Statement</vt:lpstr>
      <vt:lpstr>Analysis of Problem Statement</vt:lpstr>
      <vt:lpstr>Github Link</vt:lpstr>
      <vt:lpstr>Timeline of the Project 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Dell</cp:lastModifiedBy>
  <cp:revision>56</cp:revision>
  <dcterms:modified xsi:type="dcterms:W3CDTF">2025-09-27T13:20:11Z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0x010100881DDB871361914C92E59AEC9AD0EF2A</vt:lpwstr>
  </property>
</Properties>
</file>