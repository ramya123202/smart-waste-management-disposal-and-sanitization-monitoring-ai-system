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57" r:id="rId6"/>
    <p:sldId id="273" r:id="rId7"/>
    <p:sldId id="274" r:id="rId8"/>
    <p:sldId id="275" r:id="rId9"/>
    <p:sldId id="276" r:id="rId10"/>
    <p:sldId id="277" r:id="rId11"/>
    <p:sldId id="281" r:id="rId12"/>
    <p:sldId id="26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9898552" cy="81333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sz="2400" dirty="0">
                <a:solidFill>
                  <a:schemeClr val="tx1"/>
                </a:solidFill>
                <a:latin typeface="Cambria" panose="02040503050406030204" pitchFamily="18" charset="0"/>
                <a:ea typeface="Cambria" panose="02040503050406030204" pitchFamily="18" charset="0"/>
              </a:rPr>
              <a:t>Smart Waste Management,Disposal and Sanitization System</a:t>
            </a:r>
            <a:endParaRPr lang="en-IN"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PSCS_424</a:t>
            </a:r>
            <a:endParaRPr lang="en-IN" altLang="en-GB"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a:t>
            </a:r>
            <a:r>
              <a:rPr lang="en-IN" altLang="en-GB" sz="17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Shet Reshma Prakash</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513340"/>
          <a:ext cx="5418675" cy="2951759"/>
        </p:xfrm>
        <a:graphic>
          <a:graphicData uri="http://schemas.openxmlformats.org/drawingml/2006/table">
            <a:tbl>
              <a:tblPr firstRow="1" bandRow="1">
                <a:noFill/>
                <a:tableStyleId>{57690726-49DA-4552-BDEB-330DD8EA8BD9}</a:tableStyleId>
              </a:tblPr>
              <a:tblGrid>
                <a:gridCol w="2085000"/>
                <a:gridCol w="3333675"/>
              </a:tblGrid>
              <a:tr h="39357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93570">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83909">
                <a:tc>
                  <a:txBody>
                    <a:bodyPr/>
                    <a:lstStyle/>
                    <a:p>
                      <a:pPr marL="0" marR="0" lvl="0" indent="0" algn="ctr" rtl="0">
                        <a:spcBef>
                          <a:spcPts val="0"/>
                        </a:spcBef>
                        <a:spcAft>
                          <a:spcPts val="0"/>
                        </a:spcAft>
                        <a:buNone/>
                      </a:pPr>
                      <a:r>
                        <a:rPr lang="en-US" sz="2000" b="1" u="none" strike="noStrike" cap="none" dirty="0">
                          <a:latin typeface="Times New Roman" panose="02020603050405020304" charset="0"/>
                          <a:cs typeface="Times New Roman" panose="02020603050405020304" charset="0"/>
                        </a:rPr>
                        <a:t>20221CSE05</a:t>
                      </a:r>
                      <a:r>
                        <a:rPr lang="en-IN" altLang="en-US" sz="2000" b="1" u="none" strike="noStrike" cap="none" dirty="0">
                          <a:latin typeface="Times New Roman" panose="02020603050405020304" charset="0"/>
                          <a:cs typeface="Times New Roman" panose="02020603050405020304" charset="0"/>
                        </a:rPr>
                        <a:t>31</a:t>
                      </a:r>
                      <a:endParaRPr lang="en-US" sz="2000" b="1" u="none" strike="noStrike" cap="none" dirty="0">
                        <a:latin typeface="Times New Roman" panose="02020603050405020304" charset="0"/>
                        <a:cs typeface="Times New Roman" panose="02020603050405020304" charset="0"/>
                      </a:endParaRPr>
                    </a:p>
                    <a:p>
                      <a:pPr marL="0" marR="0" lvl="0" indent="0" algn="ctr" rtl="0">
                        <a:spcBef>
                          <a:spcPts val="0"/>
                        </a:spcBef>
                        <a:spcAft>
                          <a:spcPts val="0"/>
                        </a:spcAft>
                        <a:buNone/>
                      </a:pPr>
                      <a:r>
                        <a:rPr lang="en-US" sz="2000" b="1" u="none" strike="noStrike" cap="none" dirty="0">
                          <a:latin typeface="Times New Roman" panose="02020603050405020304" charset="0"/>
                          <a:cs typeface="Times New Roman" panose="02020603050405020304" charset="0"/>
                        </a:rPr>
                        <a:t>20221CSE05</a:t>
                      </a:r>
                      <a:r>
                        <a:rPr lang="en-IN" altLang="en-US" sz="2000" b="1" u="none" strike="noStrike" cap="none" dirty="0">
                          <a:latin typeface="Times New Roman" panose="02020603050405020304" charset="0"/>
                          <a:cs typeface="Times New Roman" panose="02020603050405020304" charset="0"/>
                        </a:rPr>
                        <a:t>50</a:t>
                      </a:r>
                      <a:endParaRPr lang="en-US" sz="2000" b="1" u="none" strike="noStrike" cap="none" dirty="0">
                        <a:latin typeface="Times New Roman" panose="02020603050405020304" charset="0"/>
                        <a:cs typeface="Times New Roman" panose="02020603050405020304" charset="0"/>
                      </a:endParaRPr>
                    </a:p>
                    <a:p>
                      <a:pPr marL="0" marR="0" lvl="0" indent="0" algn="ctr" rtl="0">
                        <a:spcBef>
                          <a:spcPts val="0"/>
                        </a:spcBef>
                        <a:spcAft>
                          <a:spcPts val="0"/>
                        </a:spcAft>
                        <a:buNone/>
                      </a:pPr>
                      <a:r>
                        <a:rPr lang="en-US" sz="2000" b="1" u="none" strike="noStrike" cap="none" dirty="0">
                          <a:latin typeface="Times New Roman" panose="02020603050405020304" charset="0"/>
                          <a:cs typeface="Times New Roman" panose="02020603050405020304" charset="0"/>
                        </a:rPr>
                        <a:t>20221CSE05</a:t>
                      </a:r>
                      <a:r>
                        <a:rPr lang="en-IN" altLang="en-US" sz="2000" b="1" u="none" strike="noStrike" cap="none" dirty="0">
                          <a:latin typeface="Times New Roman" panose="02020603050405020304" charset="0"/>
                          <a:cs typeface="Times New Roman" panose="02020603050405020304" charset="0"/>
                        </a:rPr>
                        <a:t>60</a:t>
                      </a:r>
                      <a:endParaRPr lang="en-IN" altLang="en-US" sz="2000" b="1" u="none" strike="noStrike" cap="none" dirty="0">
                        <a:latin typeface="Times New Roman" panose="02020603050405020304" charset="0"/>
                        <a:cs typeface="Times New Roman" panose="0202060305040502030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altLang="en-US" sz="2000" b="1" u="none" strike="noStrike" cap="none" dirty="0">
                          <a:latin typeface="Times New Roman" panose="02020603050405020304" charset="0"/>
                          <a:cs typeface="Times New Roman" panose="02020603050405020304" charset="0"/>
                        </a:rPr>
                        <a:t>Joyson C H</a:t>
                      </a:r>
                      <a:endParaRPr lang="en-US" sz="2000" b="1" u="none" strike="noStrike" cap="none" dirty="0">
                        <a:latin typeface="Times New Roman" panose="02020603050405020304" charset="0"/>
                        <a:cs typeface="Times New Roman" panose="02020603050405020304" charset="0"/>
                      </a:endParaRPr>
                    </a:p>
                    <a:p>
                      <a:pPr marL="0" marR="0" lvl="0" indent="0" algn="ctr" rtl="0">
                        <a:spcBef>
                          <a:spcPts val="0"/>
                        </a:spcBef>
                        <a:spcAft>
                          <a:spcPts val="0"/>
                        </a:spcAft>
                        <a:buNone/>
                      </a:pPr>
                      <a:r>
                        <a:rPr lang="en-IN" altLang="en-US" sz="2000" b="1" u="none" strike="noStrike" cap="none" dirty="0">
                          <a:latin typeface="Times New Roman" panose="02020603050405020304" charset="0"/>
                          <a:cs typeface="Times New Roman" panose="02020603050405020304" charset="0"/>
                        </a:rPr>
                        <a:t>Ramya S V</a:t>
                      </a:r>
                      <a:endParaRPr lang="en-US" sz="2000" b="1" u="none" strike="noStrike" cap="none" dirty="0">
                        <a:latin typeface="Times New Roman" panose="02020603050405020304" charset="0"/>
                        <a:cs typeface="Times New Roman" panose="02020603050405020304" charset="0"/>
                      </a:endParaRPr>
                    </a:p>
                    <a:p>
                      <a:pPr marL="0" marR="0" lvl="0" indent="0" algn="ctr" rtl="0">
                        <a:spcBef>
                          <a:spcPts val="0"/>
                        </a:spcBef>
                        <a:spcAft>
                          <a:spcPts val="0"/>
                        </a:spcAft>
                        <a:buNone/>
                      </a:pPr>
                      <a:r>
                        <a:rPr lang="en-IN" sz="2000" b="1" u="none" strike="noStrike" cap="none" dirty="0">
                          <a:latin typeface="Times New Roman" panose="02020603050405020304" charset="0"/>
                          <a:cs typeface="Times New Roman" panose="02020603050405020304" charset="0"/>
                        </a:rPr>
                        <a:t>Tejas N B</a:t>
                      </a:r>
                      <a:endParaRPr lang="en-IN" sz="2000" b="1" u="none" strike="noStrike" cap="none" dirty="0">
                        <a:latin typeface="Times New Roman" panose="02020603050405020304" charset="0"/>
                        <a:cs typeface="Times New Roman" panose="0202060305040502030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9357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9357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9357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CSE</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Dr.Asif Mohammed</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Dr.Jayavadivel Ravi </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Statement Number: </a:t>
            </a:r>
            <a:r>
              <a:rPr lang="en-IN" altLang="en-GB" dirty="0">
                <a:latin typeface="Cambria" panose="02040503050406030204" pitchFamily="18" charset="0"/>
                <a:ea typeface="Cambria" panose="02040503050406030204" pitchFamily="18" charset="0"/>
              </a:rPr>
              <a:t>PSCS_424</a:t>
            </a:r>
            <a:endParaRPr lang="en-IN" altLang="en-GB"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a:t>
            </a:r>
            <a:r>
              <a:rPr lang="en-IN" altLang="en-US" dirty="0">
                <a:latin typeface="Cambria" panose="02040503050406030204" pitchFamily="18" charset="0"/>
                <a:ea typeface="Cambria" panose="02040503050406030204" pitchFamily="18" charset="0"/>
              </a:rPr>
              <a:t> 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r>
              <a:rPr lang="en-IN" altLang="en-US" dirty="0">
                <a:latin typeface="Cambria" panose="02040503050406030204" pitchFamily="18" charset="0"/>
                <a:ea typeface="Cambria" panose="02040503050406030204" pitchFamily="18" charset="0"/>
              </a:rPr>
              <a:t> </a:t>
            </a:r>
            <a:r>
              <a:rPr lang="en-US" altLang="en-US" dirty="0">
                <a:latin typeface="Times New Roman" panose="02020603050405020304" charset="0"/>
                <a:ea typeface="Cambria" panose="02040503050406030204" pitchFamily="18" charset="0"/>
                <a:cs typeface="Times New Roman" panose="02020603050405020304" charset="0"/>
              </a:rPr>
              <a:t>Urban areas and campuses struggle with ineffective waste segregation and poor</a:t>
            </a:r>
            <a:r>
              <a:rPr lang="en-IN" altLang="en-US" dirty="0">
                <a:latin typeface="Times New Roman" panose="02020603050405020304" charset="0"/>
                <a:ea typeface="Cambria" panose="02040503050406030204" pitchFamily="18" charset="0"/>
                <a:cs typeface="Times New Roman" panose="02020603050405020304" charset="0"/>
              </a:rPr>
              <a:t> </a:t>
            </a:r>
            <a:r>
              <a:rPr lang="en-US" altLang="en-US" dirty="0">
                <a:latin typeface="Times New Roman" panose="02020603050405020304" charset="0"/>
                <a:ea typeface="Cambria" panose="02040503050406030204" pitchFamily="18" charset="0"/>
                <a:cs typeface="Times New Roman" panose="02020603050405020304" charset="0"/>
              </a:rPr>
              <a:t>sanitation monitoring.Manual processes lead to delays, inefficiency, and environmental</a:t>
            </a:r>
            <a:r>
              <a:rPr lang="en-IN" altLang="en-US" dirty="0">
                <a:latin typeface="Times New Roman" panose="02020603050405020304" charset="0"/>
                <a:ea typeface="Cambria" panose="02040503050406030204" pitchFamily="18" charset="0"/>
                <a:cs typeface="Times New Roman" panose="02020603050405020304" charset="0"/>
              </a:rPr>
              <a:t> </a:t>
            </a:r>
            <a:r>
              <a:rPr lang="en-US" altLang="en-US" dirty="0">
                <a:latin typeface="Times New Roman" panose="02020603050405020304" charset="0"/>
                <a:ea typeface="Cambria" panose="02040503050406030204" pitchFamily="18" charset="0"/>
                <a:cs typeface="Times New Roman" panose="02020603050405020304" charset="0"/>
              </a:rPr>
              <a:t>pollution.Lack of real-time tracking hampers timely waste collection and disposal.Public participation in proper waste management is minimal.A smart, technology-driven solution is needed to ensure sustainable and efficient</a:t>
            </a:r>
            <a:r>
              <a:rPr lang="" altLang="en-US" dirty="0">
                <a:latin typeface="Times New Roman" panose="02020603050405020304" charset="0"/>
                <a:ea typeface="Cambria" panose="02040503050406030204" pitchFamily="18" charset="0"/>
                <a:cs typeface="Times New Roman" panose="02020603050405020304" charset="0"/>
              </a:rPr>
              <a:t> </a:t>
            </a:r>
            <a:r>
              <a:rPr lang="en-US" altLang="en-US" dirty="0">
                <a:latin typeface="Times New Roman" panose="02020603050405020304" charset="0"/>
                <a:ea typeface="Cambria" panose="02040503050406030204" pitchFamily="18" charset="0"/>
                <a:cs typeface="Times New Roman" panose="02020603050405020304" charset="0"/>
              </a:rPr>
              <a:t>waste</a:t>
            </a:r>
            <a:r>
              <a:rPr lang="" altLang="en-US" dirty="0">
                <a:latin typeface="Times New Roman" panose="02020603050405020304" charset="0"/>
                <a:ea typeface="Cambria" panose="02040503050406030204" pitchFamily="18" charset="0"/>
                <a:cs typeface="Times New Roman" panose="02020603050405020304" charset="0"/>
              </a:rPr>
              <a:t> </a:t>
            </a:r>
            <a:r>
              <a:rPr lang="en-US" altLang="en-US" dirty="0">
                <a:latin typeface="Times New Roman" panose="02020603050405020304" charset="0"/>
                <a:ea typeface="Cambria" panose="02040503050406030204" pitchFamily="18" charset="0"/>
                <a:cs typeface="Times New Roman" panose="02020603050405020304" charset="0"/>
              </a:rPr>
              <a:t>handling.</a:t>
            </a:r>
            <a:endParaRPr lang="en-US" altLang="en-US"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551792" y="1447799"/>
            <a:ext cx="10668000" cy="4953000"/>
          </a:xfrm>
          <a:prstGeom prst="rect">
            <a:avLst/>
          </a:prstGeom>
          <a:noFill/>
          <a:ln>
            <a:noFill/>
          </a:ln>
        </p:spPr>
        <p:txBody>
          <a:bodyPr spcFirstLastPara="1" wrap="square" lIns="91425" tIns="45700" rIns="91425" bIns="45700" anchor="t" anchorCtr="0">
            <a:normAutofit/>
          </a:bodyPr>
          <a:lstStyle/>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Increas</a:t>
            </a:r>
            <a:r>
              <a:rPr lang="en-IN" altLang="en-US" sz="2000" dirty="0">
                <a:latin typeface="Cambria" panose="02040503050406030204" pitchFamily="18" charset="0"/>
                <a:ea typeface="Cambria" panose="02040503050406030204" pitchFamily="18" charset="0"/>
              </a:rPr>
              <a:t>ing</a:t>
            </a:r>
            <a:r>
              <a:rPr lang="en-US" altLang="en-US" sz="2000" dirty="0">
                <a:latin typeface="Cambria" panose="02040503050406030204" pitchFamily="18" charset="0"/>
                <a:ea typeface="Cambria" panose="02040503050406030204" pitchFamily="18" charset="0"/>
              </a:rPr>
              <a:t> waste generation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due to urbanization and population growth.</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Poor waste segregation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 leading to mixing of biodegradable, recyclable,and hazardous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waste.</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Inefficient disposal methods causing environmental pollution.</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Lack of proper sanitization, increasing risk of diseases.</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Manual processes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are time-consuming, error-prone, and unhygienic.</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Need for a technology-driven solution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to automate segregation, disposal, and sanitization.</a:t>
            </a:r>
            <a:endParaRPr lang="en-US" altLang="en-US" sz="20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ct val="100000"/>
              <a:buFont typeface="Arial" panose="020B0604020202020204" pitchFamily="34" charset="0"/>
              <a:buNone/>
            </a:pP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488731" y="1062804"/>
            <a:ext cx="10668000" cy="4953000"/>
          </a:xfrm>
          <a:prstGeom prst="rect">
            <a:avLst/>
          </a:prstGeom>
          <a:noFill/>
          <a:ln>
            <a:noFill/>
          </a:ln>
        </p:spPr>
        <p:txBody>
          <a:bodyPr spcFirstLastPara="1" wrap="square" lIns="91425" tIns="45700" rIns="91425" bIns="45700" anchor="t" anchorCtr="0">
            <a:normAutofit fontScale="90000"/>
          </a:bodyPr>
          <a:lstStyle/>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Automate waste segregation into biodegradable, recyclable, and hazardous categories.</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Provide articles, videos, and infographics on proper waste segregation and sanitation practices.</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Multi-Device Accessibility: Ensure the website is responsive and user-friendly on desktop, tablet, and mobile.</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Implement smart disposal alerts to ensure timely collection.</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Ensure eco-friendly and timely waste disposal.</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Improve sanitization standards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to prevent health hazards.</a:t>
            </a:r>
            <a:endParaRPr lang="en-US" alt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Background and Related Work: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11200" y="9525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rtl="0">
              <a:lnSpc>
                <a:spcPct val="200000"/>
              </a:lnSpc>
              <a:spcBef>
                <a:spcPts val="0"/>
              </a:spcBef>
              <a:spcAft>
                <a:spcPts val="0"/>
              </a:spcAft>
              <a:buClr>
                <a:schemeClr val="dk1"/>
              </a:buClr>
              <a:buSzPct val="100000"/>
              <a:buNone/>
            </a:pPr>
            <a:r>
              <a:rPr lang="en-US" altLang="en-US" sz="1400" dirty="0">
                <a:latin typeface="Times New Roman" panose="02020603050405020304" charset="0"/>
                <a:ea typeface="Cambria" panose="02040503050406030204" pitchFamily="18" charset="0"/>
                <a:cs typeface="Times New Roman" panose="02020603050405020304" charset="0"/>
              </a:rPr>
              <a:t>Waste generation is increasing rapidly due to urbanization, population growth, and lifestyle changes. Inefficient waste collection, poor segregation, and inadequate sanitization practices lead to environmental pollution, health hazards, and resource wastage.</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400" dirty="0">
                <a:latin typeface="Times New Roman" panose="02020603050405020304" charset="0"/>
                <a:ea typeface="Cambria" panose="02040503050406030204" pitchFamily="18" charset="0"/>
                <a:cs typeface="Times New Roman" panose="02020603050405020304" charset="0"/>
              </a:rPr>
              <a:t>Traditional waste management methods rely heavily on manual monitoring and reporting, which often causes delays, missed collections, and lack of transparency.With the advancement</a:t>
            </a:r>
            <a:r>
              <a:rPr lang="en-IN" altLang="en-US" sz="1400" dirty="0">
                <a:latin typeface="Times New Roman" panose="02020603050405020304" charset="0"/>
                <a:ea typeface="Cambria" panose="02040503050406030204" pitchFamily="18" charset="0"/>
                <a:cs typeface="Times New Roman" panose="02020603050405020304" charset="0"/>
              </a:rPr>
              <a:t> of </a:t>
            </a:r>
            <a:r>
              <a:rPr lang="en-US" altLang="en-US" sz="1400" dirty="0">
                <a:latin typeface="Times New Roman" panose="02020603050405020304" charset="0"/>
                <a:ea typeface="Cambria" panose="02040503050406030204" pitchFamily="18" charset="0"/>
                <a:cs typeface="Times New Roman" panose="02020603050405020304" charset="0"/>
              </a:rPr>
              <a:t>digital technologies, there is a growing need for integrated, web-based solutions that can:</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Track waste disposal activities</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Monitor sanitization efforts</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Provide actionable insights to authorities</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Engage communities in responsible waste handling</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400" dirty="0">
                <a:latin typeface="Times New Roman" panose="02020603050405020304" charset="0"/>
                <a:ea typeface="Cambria" panose="02040503050406030204" pitchFamily="18" charset="0"/>
                <a:cs typeface="Times New Roman" panose="02020603050405020304" charset="0"/>
              </a:rPr>
              <a:t>Our proposed system addresses these gaps by providing a centralized platform for managing waste collection schedules, tracking sanitation</a:t>
            </a:r>
            <a:r>
              <a:rPr lang="en-IN" altLang="en-US" sz="1400" dirty="0">
                <a:latin typeface="Times New Roman" panose="02020603050405020304" charset="0"/>
                <a:ea typeface="Cambria" panose="02040503050406030204" pitchFamily="18" charset="0"/>
                <a:cs typeface="Times New Roman" panose="02020603050405020304" charset="0"/>
              </a:rPr>
              <a:t> </a:t>
            </a:r>
            <a:r>
              <a:rPr lang="en-US" altLang="en-US" sz="1400" dirty="0">
                <a:latin typeface="Times New Roman" panose="02020603050405020304" charset="0"/>
                <a:ea typeface="Cambria" panose="02040503050406030204" pitchFamily="18" charset="0"/>
                <a:cs typeface="Times New Roman" panose="02020603050405020304" charset="0"/>
              </a:rPr>
              <a:t>processes, and fostering citizen participation — all without requiring complex hardware installations.</a:t>
            </a:r>
            <a:endParaRPr lang="en-US" altLang="en-US" sz="14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Analysis 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22300" y="762000"/>
            <a:ext cx="11255375" cy="5599430"/>
          </a:xfrm>
          <a:prstGeom prst="rect">
            <a:avLst/>
          </a:prstGeom>
          <a:noFill/>
          <a:ln>
            <a:noFill/>
          </a:ln>
        </p:spPr>
        <p:txBody>
          <a:bodyPr spcFirstLastPara="1" wrap="square" lIns="91425" tIns="45700" rIns="91425" bIns="45700" anchor="t" anchorCtr="0">
            <a:noAutofit/>
          </a:bodyPr>
          <a:lstStyle/>
          <a:p>
            <a:pPr marL="342900" lvl="0" indent="-190500" algn="just" rtl="0">
              <a:lnSpc>
                <a:spcPct val="200000"/>
              </a:lnSpc>
              <a:spcBef>
                <a:spcPts val="0"/>
              </a:spcBef>
              <a:spcAft>
                <a:spcPts val="0"/>
              </a:spcAft>
              <a:buClr>
                <a:schemeClr val="dk1"/>
              </a:buClr>
              <a:buSzPct val="100000"/>
              <a:buNone/>
            </a:pPr>
            <a:r>
              <a:rPr lang="en-IN" altLang="en-US" sz="1200" b="1" dirty="0">
                <a:latin typeface="Times New Roman" panose="02020603050405020304" charset="0"/>
                <a:ea typeface="Cambria" panose="02040503050406030204" pitchFamily="18" charset="0"/>
                <a:cs typeface="Times New Roman" panose="02020603050405020304" charset="0"/>
              </a:rPr>
              <a:t>T</a:t>
            </a:r>
            <a:r>
              <a:rPr lang="en-US" altLang="en-US" sz="1200" b="1" dirty="0">
                <a:latin typeface="Times New Roman" panose="02020603050405020304" charset="0"/>
                <a:ea typeface="Cambria" panose="02040503050406030204" pitchFamily="18" charset="0"/>
                <a:cs typeface="Times New Roman" panose="02020603050405020304" charset="0"/>
              </a:rPr>
              <a:t>echnologies Used</a:t>
            </a:r>
            <a:endParaRPr lang="en-US" altLang="en-US" sz="1200" b="1"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b="1" dirty="0">
                <a:latin typeface="Times New Roman" panose="02020603050405020304" charset="0"/>
                <a:ea typeface="Cambria" panose="02040503050406030204" pitchFamily="18" charset="0"/>
                <a:cs typeface="Times New Roman" panose="02020603050405020304" charset="0"/>
              </a:rPr>
              <a:t>Frontend</a:t>
            </a:r>
            <a:r>
              <a:rPr lang="en-IN" altLang="en-US" sz="1200" dirty="0">
                <a:latin typeface="Times New Roman" panose="02020603050405020304" charset="0"/>
                <a:ea typeface="Cambria" panose="02040503050406030204" pitchFamily="18" charset="0"/>
                <a:cs typeface="Times New Roman" panose="02020603050405020304" charset="0"/>
              </a:rPr>
              <a:t>      -   </a:t>
            </a:r>
            <a:r>
              <a:rPr lang="en-US" altLang="en-US" sz="1200" dirty="0">
                <a:latin typeface="Times New Roman" panose="02020603050405020304" charset="0"/>
                <a:ea typeface="Cambria" panose="02040503050406030204" pitchFamily="18" charset="0"/>
                <a:cs typeface="Times New Roman" panose="02020603050405020304" charset="0"/>
              </a:rPr>
              <a:t>HTML5, CSS3, JavaScript – For responsive, accessible, and interactive UI.</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dirty="0">
                <a:latin typeface="Times New Roman" panose="02020603050405020304" charset="0"/>
                <a:ea typeface="Cambria" panose="02040503050406030204" pitchFamily="18" charset="0"/>
                <a:cs typeface="Times New Roman" panose="02020603050405020304" charset="0"/>
              </a:rPr>
              <a:t>Bootstrap / Tailwind CSS – To speed up design and maintain a clean, mobile-first layout.</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b="1" dirty="0">
                <a:latin typeface="Times New Roman" panose="02020603050405020304" charset="0"/>
                <a:ea typeface="Cambria" panose="02040503050406030204" pitchFamily="18" charset="0"/>
                <a:cs typeface="Times New Roman" panose="02020603050405020304" charset="0"/>
              </a:rPr>
              <a:t>Backend</a:t>
            </a:r>
            <a:r>
              <a:rPr lang="en-IN" altLang="en-US" sz="1200" b="1" dirty="0">
                <a:latin typeface="Times New Roman" panose="02020603050405020304" charset="0"/>
                <a:ea typeface="Cambria" panose="02040503050406030204" pitchFamily="18" charset="0"/>
                <a:cs typeface="Times New Roman" panose="02020603050405020304" charset="0"/>
              </a:rPr>
              <a:t> </a:t>
            </a:r>
            <a:r>
              <a:rPr lang="en-IN" altLang="en-US" sz="1200" dirty="0">
                <a:latin typeface="Times New Roman" panose="02020603050405020304" charset="0"/>
                <a:ea typeface="Cambria" panose="02040503050406030204" pitchFamily="18" charset="0"/>
                <a:cs typeface="Times New Roman" panose="02020603050405020304" charset="0"/>
              </a:rPr>
              <a:t>     -   </a:t>
            </a:r>
            <a:r>
              <a:rPr lang="en-US" altLang="en-US" sz="1200" dirty="0">
                <a:latin typeface="Times New Roman" panose="02020603050405020304" charset="0"/>
                <a:ea typeface="Cambria" panose="02040503050406030204" pitchFamily="18" charset="0"/>
                <a:cs typeface="Times New Roman" panose="02020603050405020304" charset="0"/>
              </a:rPr>
              <a:t> Node.js – Server-side scripting to handle logic, task assignment, and report generation.</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dirty="0">
                <a:latin typeface="Times New Roman" panose="02020603050405020304" charset="0"/>
                <a:ea typeface="Cambria" panose="02040503050406030204" pitchFamily="18" charset="0"/>
                <a:cs typeface="Times New Roman" panose="02020603050405020304" charset="0"/>
              </a:rPr>
              <a:t>Express.js (if using Node.js) – To build fast and secure REST APIs.</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dirty="0">
                <a:latin typeface="Times New Roman" panose="02020603050405020304" charset="0"/>
                <a:ea typeface="Cambria" panose="02040503050406030204" pitchFamily="18" charset="0"/>
                <a:cs typeface="Times New Roman" panose="02020603050405020304" charset="0"/>
              </a:rPr>
              <a:t>Python  – For predictive analytics (e.g., missed collection prediction, trend analysis).</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b="1" dirty="0">
                <a:latin typeface="Times New Roman" panose="02020603050405020304" charset="0"/>
                <a:ea typeface="Cambria" panose="02040503050406030204" pitchFamily="18" charset="0"/>
                <a:cs typeface="Times New Roman" panose="02020603050405020304" charset="0"/>
              </a:rPr>
              <a:t>Database</a:t>
            </a:r>
            <a:r>
              <a:rPr lang="en-IN" altLang="en-US" sz="1200" b="1" dirty="0">
                <a:latin typeface="Times New Roman" panose="02020603050405020304" charset="0"/>
                <a:ea typeface="Cambria" panose="02040503050406030204" pitchFamily="18" charset="0"/>
                <a:cs typeface="Times New Roman" panose="02020603050405020304" charset="0"/>
              </a:rPr>
              <a:t>  </a:t>
            </a:r>
            <a:r>
              <a:rPr lang="en-IN" altLang="en-US" sz="1200" dirty="0">
                <a:latin typeface="Times New Roman" panose="02020603050405020304" charset="0"/>
                <a:ea typeface="Cambria" panose="02040503050406030204" pitchFamily="18" charset="0"/>
                <a:cs typeface="Times New Roman" panose="02020603050405020304" charset="0"/>
              </a:rPr>
              <a:t> -   </a:t>
            </a:r>
            <a:r>
              <a:rPr lang="en-US" altLang="en-US" sz="1200" dirty="0">
                <a:latin typeface="Times New Roman" panose="02020603050405020304" charset="0"/>
                <a:ea typeface="Cambria" panose="02040503050406030204" pitchFamily="18" charset="0"/>
                <a:cs typeface="Times New Roman" panose="02020603050405020304" charset="0"/>
              </a:rPr>
              <a:t>MySQL  – To store user accounts, task logs, sanitization records, and reports.</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b="1" dirty="0">
                <a:latin typeface="Times New Roman" panose="02020603050405020304" charset="0"/>
                <a:ea typeface="Cambria" panose="02040503050406030204" pitchFamily="18" charset="0"/>
                <a:cs typeface="Times New Roman" panose="02020603050405020304" charset="0"/>
              </a:rPr>
              <a:t>Additional Tools &amp; Integrations</a:t>
            </a:r>
            <a:endParaRPr lang="en-US" altLang="en-US" sz="1200" b="1"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b="1" dirty="0">
                <a:latin typeface="Times New Roman" panose="02020603050405020304" charset="0"/>
                <a:ea typeface="Cambria" panose="02040503050406030204" pitchFamily="18" charset="0"/>
                <a:cs typeface="Times New Roman" panose="02020603050405020304" charset="0"/>
              </a:rPr>
              <a:t>Google Maps API</a:t>
            </a:r>
            <a:r>
              <a:rPr lang="en-US" altLang="en-US" sz="1200" dirty="0">
                <a:latin typeface="Times New Roman" panose="02020603050405020304" charset="0"/>
                <a:ea typeface="Cambria" panose="02040503050406030204" pitchFamily="18" charset="0"/>
                <a:cs typeface="Times New Roman" panose="02020603050405020304" charset="0"/>
              </a:rPr>
              <a:t> – For geo-tagging waste bins and mapping collection routes.</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dirty="0">
                <a:latin typeface="Times New Roman" panose="02020603050405020304" charset="0"/>
                <a:ea typeface="Cambria" panose="02040503050406030204" pitchFamily="18" charset="0"/>
                <a:cs typeface="Times New Roman" panose="02020603050405020304" charset="0"/>
              </a:rPr>
              <a:t>Email / SMS API (Twilio or SMTP) – For sending collection reminders or alerts.</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b="1" dirty="0">
                <a:latin typeface="Times New Roman" panose="02020603050405020304" charset="0"/>
                <a:ea typeface="Cambria" panose="02040503050406030204" pitchFamily="18" charset="0"/>
                <a:cs typeface="Times New Roman" panose="02020603050405020304" charset="0"/>
              </a:rPr>
              <a:t>Hosting Options</a:t>
            </a:r>
            <a:r>
              <a:rPr lang="en-IN" altLang="en-US" sz="1200" dirty="0">
                <a:latin typeface="Times New Roman" panose="02020603050405020304" charset="0"/>
                <a:ea typeface="Cambria" panose="02040503050406030204" pitchFamily="18" charset="0"/>
                <a:cs typeface="Times New Roman" panose="02020603050405020304" charset="0"/>
              </a:rPr>
              <a:t>   - </a:t>
            </a:r>
            <a:r>
              <a:rPr lang="en-US" altLang="en-US" sz="1200" dirty="0">
                <a:latin typeface="Times New Roman" panose="02020603050405020304" charset="0"/>
                <a:ea typeface="Cambria" panose="02040503050406030204" pitchFamily="18" charset="0"/>
                <a:cs typeface="Times New Roman" panose="02020603050405020304" charset="0"/>
              </a:rPr>
              <a:t>Free / Student-Friendly</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dirty="0">
                <a:latin typeface="Times New Roman" panose="02020603050405020304" charset="0"/>
                <a:ea typeface="Cambria" panose="02040503050406030204" pitchFamily="18" charset="0"/>
                <a:cs typeface="Times New Roman" panose="02020603050405020304" charset="0"/>
              </a:rPr>
              <a:t>GitHub Pages – Great for static sites (HTML/CSS/JS). Very reliable and easy to integrate with version control.</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r>
              <a:rPr lang="en-US" altLang="en-US" sz="1200" dirty="0">
                <a:latin typeface="Times New Roman" panose="02020603050405020304" charset="0"/>
                <a:ea typeface="Cambria" panose="02040503050406030204" pitchFamily="18" charset="0"/>
                <a:cs typeface="Times New Roman" panose="02020603050405020304" charset="0"/>
              </a:rPr>
              <a:t>Netlify – Free hosting with automatic deployment from GitHub, supports custom domains, and works for frontend + some backend functions via serverless functions.</a:t>
            </a:r>
            <a:endParaRPr lang="en-US" altLang="en-US" sz="1200" dirty="0">
              <a:latin typeface="Times New Roman" panose="02020603050405020304" charset="0"/>
              <a:ea typeface="Cambria" panose="02040503050406030204" pitchFamily="18" charset="0"/>
              <a:cs typeface="Times New Roman" panose="02020603050405020304" charset="0"/>
            </a:endParaRPr>
          </a:p>
          <a:p>
            <a:pPr marL="342900" lvl="0" indent="-190500" algn="just" rtl="0">
              <a:lnSpc>
                <a:spcPct val="200000"/>
              </a:lnSpc>
              <a:spcBef>
                <a:spcPts val="0"/>
              </a:spcBef>
              <a:spcAft>
                <a:spcPts val="0"/>
              </a:spcAft>
              <a:buClr>
                <a:schemeClr val="dk1"/>
              </a:buClr>
              <a:buSzPct val="100000"/>
              <a:buNone/>
            </a:pPr>
            <a:endParaRPr lang="en-US" altLang="en-US" sz="12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 Novel Contributions: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493" y="1105075"/>
            <a:ext cx="10268607" cy="5297214"/>
          </a:xfrm>
          <a:prstGeom prst="rect">
            <a:avLst/>
          </a:prstGeom>
          <a:noFill/>
          <a:ln>
            <a:noFill/>
          </a:ln>
        </p:spPr>
        <p:txBody>
          <a:bodyPr spcFirstLastPara="1" wrap="square" lIns="91425" tIns="45700" rIns="91425" bIns="45700" anchor="t" anchorCtr="0">
            <a:noAutofit/>
          </a:bodyPr>
          <a:lstStyle/>
          <a:p>
            <a:pPr marL="342900" lvl="0" indent="-190500" algn="just" rtl="0">
              <a:lnSpc>
                <a:spcPct val="200000"/>
              </a:lnSpc>
              <a:spcBef>
                <a:spcPts val="0"/>
              </a:spcBef>
              <a:spcAft>
                <a:spcPts val="0"/>
              </a:spcAft>
              <a:buClr>
                <a:schemeClr val="dk1"/>
              </a:buClr>
              <a:buSzPct val="100000"/>
              <a:buNone/>
            </a:pPr>
            <a:r>
              <a:rPr lang="en-US" altLang="en-US" sz="1400" b="1" dirty="0">
                <a:latin typeface="Cambria" panose="02040503050406030204" pitchFamily="18" charset="0"/>
                <a:ea typeface="Cambria" panose="02040503050406030204" pitchFamily="18" charset="0"/>
              </a:rPr>
              <a:t>Innovation</a:t>
            </a:r>
            <a:endParaRPr lang="en-US" altLang="en-US" sz="1400" b="1" dirty="0">
              <a:latin typeface="Cambria" panose="02040503050406030204" pitchFamily="18" charset="0"/>
              <a:ea typeface="Cambria" panose="02040503050406030204" pitchFamily="18" charset="0"/>
            </a:endParaRPr>
          </a:p>
          <a:p>
            <a:pPr marL="438150" lvl="0" indent="-285750" algn="just" rtl="0">
              <a:lnSpc>
                <a:spcPct val="200000"/>
              </a:lnSpc>
              <a:spcBef>
                <a:spcPts val="0"/>
              </a:spcBef>
              <a:spcAft>
                <a:spcPts val="0"/>
              </a:spcAft>
              <a:buClr>
                <a:schemeClr val="dk1"/>
              </a:buClr>
              <a:buSzPct val="100000"/>
            </a:pPr>
            <a:r>
              <a:rPr lang="en-US" altLang="en-US" sz="1600" dirty="0">
                <a:latin typeface="Times New Roman" panose="02020603050405020304" charset="0"/>
                <a:ea typeface="Cambria" panose="02040503050406030204" pitchFamily="18" charset="0"/>
                <a:cs typeface="Times New Roman" panose="02020603050405020304" charset="0"/>
              </a:rPr>
              <a:t>Centralized Waste &amp; Sanitization Management Portal – All records, actions, and status updates in a single web-based system.</a:t>
            </a:r>
            <a:endParaRPr lang="en-US" altLang="en-US" sz="16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600" dirty="0">
                <a:latin typeface="Times New Roman" panose="02020603050405020304" charset="0"/>
                <a:ea typeface="Cambria" panose="02040503050406030204" pitchFamily="18" charset="0"/>
                <a:cs typeface="Times New Roman" panose="02020603050405020304" charset="0"/>
              </a:rPr>
              <a:t>Predictive Waste Collection Planning – Uses past data trends to recommend optimal collection intervals for each location.</a:t>
            </a:r>
            <a:endParaRPr lang="en-US" altLang="en-US" sz="16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600" dirty="0">
                <a:latin typeface="Times New Roman" panose="02020603050405020304" charset="0"/>
                <a:ea typeface="Cambria" panose="02040503050406030204" pitchFamily="18" charset="0"/>
                <a:cs typeface="Times New Roman" panose="02020603050405020304" charset="0"/>
              </a:rPr>
              <a:t>Role-Based Access – Separate dashboards for Admins, Workers, and Public Users to ensure secure and relevant access.</a:t>
            </a:r>
            <a:endParaRPr lang="en-US" altLang="en-US" sz="16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600" dirty="0">
                <a:latin typeface="Times New Roman" panose="02020603050405020304" charset="0"/>
                <a:ea typeface="Cambria" panose="02040503050406030204" pitchFamily="18" charset="0"/>
                <a:cs typeface="Times New Roman" panose="02020603050405020304" charset="0"/>
              </a:rPr>
              <a:t>Interactive Disposal Tracking – Visual map/timeline showing collection progress and completed sanitization tasks.</a:t>
            </a:r>
            <a:r>
              <a:rPr lang="en-US" sz="1600" dirty="0">
                <a:latin typeface="Times New Roman" panose="02020603050405020304" charset="0"/>
                <a:ea typeface="Cambria" panose="02040503050406030204" pitchFamily="18" charset="0"/>
                <a:cs typeface="Times New Roman" panose="02020603050405020304" charset="0"/>
              </a:rPr>
              <a:t>Integrated AI Chatbot:</a:t>
            </a:r>
            <a:endParaRPr lang="en-US" sz="16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endParaRPr lang="en-US" sz="16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endParaRPr lang="en-US" sz="16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 Novel Contributions: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493" y="1105075"/>
            <a:ext cx="10268607" cy="5297214"/>
          </a:xfrm>
          <a:prstGeom prst="rect">
            <a:avLst/>
          </a:prstGeom>
          <a:noFill/>
          <a:ln>
            <a:noFill/>
          </a:ln>
        </p:spPr>
        <p:txBody>
          <a:bodyPr spcFirstLastPara="1" wrap="square" lIns="91425" tIns="45700" rIns="91425" bIns="45700" anchor="t" anchorCtr="0">
            <a:noAutofit/>
          </a:bodyPr>
          <a:lstStyle/>
          <a:p>
            <a:pPr marL="152400" lvl="0" indent="0" algn="just" rtl="0">
              <a:lnSpc>
                <a:spcPct val="200000"/>
              </a:lnSpc>
              <a:spcBef>
                <a:spcPts val="0"/>
              </a:spcBef>
              <a:spcAft>
                <a:spcPts val="0"/>
              </a:spcAft>
              <a:buClr>
                <a:schemeClr val="dk1"/>
              </a:buClr>
              <a:buSzPct val="100000"/>
              <a:buNone/>
            </a:pPr>
            <a:r>
              <a:rPr lang="en-US" altLang="en-US" sz="1400" b="1" dirty="0">
                <a:latin typeface="Times New Roman" panose="02020603050405020304" charset="0"/>
                <a:ea typeface="Cambria" panose="02040503050406030204" pitchFamily="18" charset="0"/>
                <a:cs typeface="Times New Roman" panose="02020603050405020304" charset="0"/>
              </a:rPr>
              <a:t>Novel Contribution (First-of-its-kind Digital Waste &amp; Sanitization Platform)</a:t>
            </a:r>
            <a:endParaRPr lang="en-US" altLang="en-US" sz="1400" b="1"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First-Ever Post-Disposal Sanitization Logging – Introduces a verifiable digital trail that records exact date, time, and location of sanitization activities after waste disposal, ensuring accountability never seen before in current municipal systems.</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Proactive Missed Collection Detection – An intelligent schedule-monitoring feature that flags uncollected waste points before they become a sanitation hazard — shifting from reactive to preventive waste management.</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Revolutionary Action Selector Module – Empowers administrators to assign, monitor, and verify waste-related tasks through a single digital command center, eliminating the inefficiency of manual calls or paper logs.</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Automated Data-Driven Reports for Authorities – Generates ready-to-present weekly and monthly analytics, enabling decision-makers to optimize resources, reduce costs, and plan strategic waste reduction measures.</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r>
              <a:rPr lang="en-US" altLang="en-US" sz="1400" dirty="0">
                <a:latin typeface="Times New Roman" panose="02020603050405020304" charset="0"/>
                <a:ea typeface="Cambria" panose="02040503050406030204" pitchFamily="18" charset="0"/>
                <a:cs typeface="Times New Roman" panose="02020603050405020304" charset="0"/>
              </a:rPr>
              <a:t>Community-Centric Awareness Hub – A built-in educational and engagement portal that gamifies responsible waste handling, fostering a culture of sustainability right from the citizen level.</a:t>
            </a:r>
            <a:endParaRPr lang="en-US" altLang="en-US" sz="1400" dirty="0">
              <a:latin typeface="Times New Roman" panose="02020603050405020304" charset="0"/>
              <a:ea typeface="Cambria" panose="02040503050406030204" pitchFamily="18" charset="0"/>
              <a:cs typeface="Times New Roman" panose="02020603050405020304" charset="0"/>
            </a:endParaRPr>
          </a:p>
          <a:p>
            <a:pPr marL="438150" lvl="0" indent="-285750" algn="just" rtl="0">
              <a:lnSpc>
                <a:spcPct val="200000"/>
              </a:lnSpc>
              <a:spcBef>
                <a:spcPts val="0"/>
              </a:spcBef>
              <a:spcAft>
                <a:spcPts val="0"/>
              </a:spcAft>
              <a:buClr>
                <a:schemeClr val="dk1"/>
              </a:buClr>
              <a:buSzPct val="100000"/>
            </a:pPr>
            <a:endParaRPr lang="en-US" altLang="en-US" sz="14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endParaRPr lang="en-US" altLang="en-US" sz="14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965200" y="12954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r>
              <a:rPr lang="en-US" altLang="en-US" dirty="0">
                <a:latin typeface="Cambria" panose="02040503050406030204" pitchFamily="18" charset="0"/>
                <a:ea typeface="Cambria" panose="02040503050406030204" pitchFamily="18" charset="0"/>
              </a:rPr>
              <a:t>https://github.com/Ramya123202/Clean-and-Green-technology.git</a:t>
            </a:r>
            <a:endParaRPr lang="en-US" alt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1468820"/>
            <a:ext cx="10668000" cy="4953000"/>
          </a:xfrm>
          <a:prstGeom prst="rect">
            <a:avLst/>
          </a:prstGeom>
          <a:noFill/>
          <a:ln>
            <a:noFill/>
          </a:ln>
        </p:spPr>
        <p:txBody>
          <a:bodyPr spcFirstLastPara="1" wrap="square" lIns="91425" tIns="45700" rIns="91425" bIns="45700" anchor="t" anchorCtr="0">
            <a:normAutofit/>
          </a:bodyPr>
          <a:lstStyle/>
          <a:p>
            <a:pPr marL="495300" lvl="0" indent="-342900" algn="just" rtl="0">
              <a:spcBef>
                <a:spcPts val="0"/>
              </a:spcBef>
              <a:spcAft>
                <a:spcPts val="0"/>
              </a:spcAft>
              <a:buClr>
                <a:schemeClr val="dk1"/>
              </a:buClr>
              <a:buSzPct val="1000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marL="495300" lvl="0" indent="-342900" algn="just" rtl="0">
              <a:spcBef>
                <a:spcPts val="0"/>
              </a:spcBef>
              <a:spcAft>
                <a:spcPts val="0"/>
              </a:spcAft>
              <a:buClr>
                <a:schemeClr val="dk1"/>
              </a:buClr>
              <a:buSzPct val="100000"/>
              <a:buFont typeface="Arial" panose="020B0604020202020204" pitchFamily="34" charset="0"/>
              <a:buChar char="•"/>
            </a:pPr>
            <a:r>
              <a:rPr lang="en-US" altLang="en-US" sz="3200" dirty="0">
                <a:latin typeface="Cambria" panose="02040503050406030204" pitchFamily="18" charset="0"/>
                <a:ea typeface="Cambria" panose="02040503050406030204" pitchFamily="18" charset="0"/>
              </a:rPr>
              <a:t>Week 1</a:t>
            </a:r>
            <a:r>
              <a:rPr lang="en-IN" altLang="en-US" sz="3200" dirty="0">
                <a:latin typeface="Cambria" panose="02040503050406030204" pitchFamily="18" charset="0"/>
                <a:ea typeface="Cambria" panose="02040503050406030204" pitchFamily="18" charset="0"/>
              </a:rPr>
              <a:t>-2</a:t>
            </a:r>
            <a:r>
              <a:rPr lang="en-US" altLang="en-US" sz="3200" dirty="0">
                <a:latin typeface="Cambria" panose="02040503050406030204" pitchFamily="18" charset="0"/>
                <a:ea typeface="Cambria" panose="02040503050406030204" pitchFamily="18" charset="0"/>
              </a:rPr>
              <a:t> – Requirement gathering &amp; analysis</a:t>
            </a:r>
            <a:endParaRPr lang="en-US" altLang="en-US" sz="3200" dirty="0">
              <a:latin typeface="Cambria" panose="02040503050406030204" pitchFamily="18" charset="0"/>
              <a:ea typeface="Cambria" panose="02040503050406030204" pitchFamily="18" charset="0"/>
            </a:endParaRPr>
          </a:p>
          <a:p>
            <a:pPr marL="495300" lvl="0" indent="-342900" algn="just" rtl="0">
              <a:spcBef>
                <a:spcPts val="0"/>
              </a:spcBef>
              <a:spcAft>
                <a:spcPts val="0"/>
              </a:spcAft>
              <a:buClr>
                <a:schemeClr val="dk1"/>
              </a:buClr>
              <a:buSzPct val="100000"/>
              <a:buFont typeface="Arial" panose="020B0604020202020204" pitchFamily="34" charset="0"/>
              <a:buChar char="•"/>
            </a:pPr>
            <a:r>
              <a:rPr lang="en-US" altLang="en-US" sz="3200" dirty="0">
                <a:latin typeface="Cambria" panose="02040503050406030204" pitchFamily="18" charset="0"/>
                <a:ea typeface="Cambria" panose="02040503050406030204" pitchFamily="18" charset="0"/>
              </a:rPr>
              <a:t>Week 3</a:t>
            </a:r>
            <a:r>
              <a:rPr lang="en-IN" altLang="en-US" sz="3200" dirty="0">
                <a:latin typeface="Cambria" panose="02040503050406030204" pitchFamily="18" charset="0"/>
                <a:ea typeface="Cambria" panose="02040503050406030204" pitchFamily="18" charset="0"/>
              </a:rPr>
              <a:t>-4</a:t>
            </a:r>
            <a:r>
              <a:rPr lang="en-US" altLang="en-US" sz="3200" dirty="0">
                <a:latin typeface="Cambria" panose="02040503050406030204" pitchFamily="18" charset="0"/>
                <a:ea typeface="Cambria" panose="02040503050406030204" pitchFamily="18" charset="0"/>
              </a:rPr>
              <a:t> – System design (UI/UX + architecture)</a:t>
            </a:r>
            <a:endParaRPr lang="en-US" altLang="en-US" sz="3200" dirty="0">
              <a:latin typeface="Cambria" panose="02040503050406030204" pitchFamily="18" charset="0"/>
              <a:ea typeface="Cambria" panose="02040503050406030204" pitchFamily="18" charset="0"/>
            </a:endParaRPr>
          </a:p>
          <a:p>
            <a:pPr marL="495300" lvl="0" indent="-342900" algn="just" rtl="0">
              <a:spcBef>
                <a:spcPts val="0"/>
              </a:spcBef>
              <a:spcAft>
                <a:spcPts val="0"/>
              </a:spcAft>
              <a:buClr>
                <a:schemeClr val="dk1"/>
              </a:buClr>
              <a:buSzPct val="100000"/>
              <a:buFont typeface="Arial" panose="020B0604020202020204" pitchFamily="34" charset="0"/>
              <a:buChar char="•"/>
            </a:pPr>
            <a:r>
              <a:rPr lang="en-US" altLang="en-US" sz="3200" dirty="0">
                <a:latin typeface="Cambria" panose="02040503050406030204" pitchFamily="18" charset="0"/>
                <a:ea typeface="Cambria" panose="02040503050406030204" pitchFamily="18" charset="0"/>
              </a:rPr>
              <a:t>Week 5</a:t>
            </a:r>
            <a:r>
              <a:rPr lang="en-IN" altLang="en-US" sz="3200" dirty="0">
                <a:latin typeface="Cambria" panose="02040503050406030204" pitchFamily="18" charset="0"/>
                <a:ea typeface="Cambria" panose="02040503050406030204" pitchFamily="18" charset="0"/>
              </a:rPr>
              <a:t>-7</a:t>
            </a:r>
            <a:r>
              <a:rPr lang="en-US" altLang="en-US" sz="3200" dirty="0">
                <a:latin typeface="Cambria" panose="02040503050406030204" pitchFamily="18" charset="0"/>
                <a:ea typeface="Cambria" panose="02040503050406030204" pitchFamily="18" charset="0"/>
              </a:rPr>
              <a:t>– Software development (core modules)</a:t>
            </a:r>
            <a:endParaRPr lang="en-US" altLang="en-US" sz="3200" dirty="0">
              <a:latin typeface="Cambria" panose="02040503050406030204" pitchFamily="18" charset="0"/>
              <a:ea typeface="Cambria" panose="02040503050406030204" pitchFamily="18" charset="0"/>
            </a:endParaRPr>
          </a:p>
          <a:p>
            <a:pPr marL="495300" lvl="0" indent="-342900" algn="just" rtl="0">
              <a:spcBef>
                <a:spcPts val="0"/>
              </a:spcBef>
              <a:spcAft>
                <a:spcPts val="0"/>
              </a:spcAft>
              <a:buClr>
                <a:schemeClr val="dk1"/>
              </a:buClr>
              <a:buSzPct val="100000"/>
              <a:buFont typeface="Arial" panose="020B0604020202020204" pitchFamily="34" charset="0"/>
              <a:buChar char="•"/>
            </a:pPr>
            <a:r>
              <a:rPr lang="en-US" altLang="en-US" sz="3200" dirty="0">
                <a:latin typeface="Cambria" panose="02040503050406030204" pitchFamily="18" charset="0"/>
                <a:ea typeface="Cambria" panose="02040503050406030204" pitchFamily="18" charset="0"/>
              </a:rPr>
              <a:t>Week 8 </a:t>
            </a:r>
            <a:r>
              <a:rPr lang="en-IN" altLang="en-US" sz="3200" dirty="0">
                <a:latin typeface="Cambria" panose="02040503050406030204" pitchFamily="18" charset="0"/>
                <a:ea typeface="Cambria" panose="02040503050406030204" pitchFamily="18" charset="0"/>
              </a:rPr>
              <a:t>-9</a:t>
            </a:r>
            <a:r>
              <a:rPr lang="en-US" altLang="en-US" sz="3200" dirty="0">
                <a:latin typeface="Cambria" panose="02040503050406030204" pitchFamily="18" charset="0"/>
                <a:ea typeface="Cambria" panose="02040503050406030204" pitchFamily="18" charset="0"/>
              </a:rPr>
              <a:t>– Integration of modules &amp; feature completion</a:t>
            </a:r>
            <a:endParaRPr lang="en-US" altLang="en-US" sz="3200" dirty="0">
              <a:latin typeface="Cambria" panose="02040503050406030204" pitchFamily="18" charset="0"/>
              <a:ea typeface="Cambria" panose="02040503050406030204" pitchFamily="18" charset="0"/>
            </a:endParaRPr>
          </a:p>
          <a:p>
            <a:pPr marL="495300" lvl="0" indent="-342900" algn="just" rtl="0">
              <a:spcBef>
                <a:spcPts val="0"/>
              </a:spcBef>
              <a:spcAft>
                <a:spcPts val="0"/>
              </a:spcAft>
              <a:buClr>
                <a:schemeClr val="dk1"/>
              </a:buClr>
              <a:buSzPct val="100000"/>
              <a:buFont typeface="Arial" panose="020B0604020202020204" pitchFamily="34" charset="0"/>
              <a:buChar char="•"/>
            </a:pPr>
            <a:r>
              <a:rPr lang="en-US" altLang="en-US" sz="3200" dirty="0">
                <a:latin typeface="Cambria" panose="02040503050406030204" pitchFamily="18" charset="0"/>
                <a:ea typeface="Cambria" panose="02040503050406030204" pitchFamily="18" charset="0"/>
              </a:rPr>
              <a:t>Week 10 </a:t>
            </a:r>
            <a:r>
              <a:rPr lang="en-IN" altLang="en-US" sz="3200" dirty="0">
                <a:latin typeface="Cambria" panose="02040503050406030204" pitchFamily="18" charset="0"/>
                <a:ea typeface="Cambria" panose="02040503050406030204" pitchFamily="18" charset="0"/>
              </a:rPr>
              <a:t>-11</a:t>
            </a:r>
            <a:r>
              <a:rPr lang="en-US" altLang="en-US" sz="3200" dirty="0">
                <a:latin typeface="Cambria" panose="02040503050406030204" pitchFamily="18" charset="0"/>
                <a:ea typeface="Cambria" panose="02040503050406030204" pitchFamily="18" charset="0"/>
              </a:rPr>
              <a:t>– Testing (unit, integration, and user acceptance)</a:t>
            </a:r>
            <a:endParaRPr lang="en-US" altLang="en-US" sz="3200" dirty="0">
              <a:latin typeface="Cambria" panose="02040503050406030204" pitchFamily="18" charset="0"/>
              <a:ea typeface="Cambria" panose="02040503050406030204" pitchFamily="18" charset="0"/>
            </a:endParaRPr>
          </a:p>
          <a:p>
            <a:pPr marL="495300" lvl="0" indent="-342900" algn="just" rtl="0">
              <a:spcBef>
                <a:spcPts val="0"/>
              </a:spcBef>
              <a:spcAft>
                <a:spcPts val="0"/>
              </a:spcAft>
              <a:buClr>
                <a:schemeClr val="dk1"/>
              </a:buClr>
              <a:buSzPct val="100000"/>
              <a:buFont typeface="Arial" panose="020B0604020202020204" pitchFamily="34" charset="0"/>
              <a:buChar char="•"/>
            </a:pPr>
            <a:r>
              <a:rPr lang="en-US" altLang="en-US" sz="3200" dirty="0">
                <a:latin typeface="Cambria" panose="02040503050406030204" pitchFamily="18" charset="0"/>
                <a:ea typeface="Cambria" panose="02040503050406030204" pitchFamily="18" charset="0"/>
              </a:rPr>
              <a:t>Week </a:t>
            </a:r>
            <a:r>
              <a:rPr lang="en-IN" altLang="en-US" sz="3200" dirty="0">
                <a:latin typeface="Cambria" panose="02040503050406030204" pitchFamily="18" charset="0"/>
                <a:ea typeface="Cambria" panose="02040503050406030204" pitchFamily="18" charset="0"/>
              </a:rPr>
              <a:t>12</a:t>
            </a:r>
            <a:r>
              <a:rPr lang="en-US" altLang="en-US" sz="3200" dirty="0">
                <a:latin typeface="Cambria" panose="02040503050406030204" pitchFamily="18" charset="0"/>
                <a:ea typeface="Cambria" panose="02040503050406030204" pitchFamily="18" charset="0"/>
              </a:rPr>
              <a:t> – Deployment &amp; final</a:t>
            </a:r>
            <a:r>
              <a:rPr lang="" altLang="en-US" sz="3200" dirty="0">
                <a:latin typeface="Cambria" panose="02040503050406030204" pitchFamily="18" charset="0"/>
                <a:ea typeface="Cambria" panose="02040503050406030204" pitchFamily="18" charset="0"/>
              </a:rPr>
              <a:t> </a:t>
            </a:r>
            <a:r>
              <a:rPr lang="en-US" altLang="en-US" sz="3200" dirty="0">
                <a:latin typeface="Cambria" panose="02040503050406030204" pitchFamily="18" charset="0"/>
                <a:ea typeface="Cambria" panose="02040503050406030204" pitchFamily="18" charset="0"/>
              </a:rPr>
              <a:t>documentation</a:t>
            </a:r>
            <a:endParaRPr lang="en-US" altLang="en-US" sz="32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62000" y="1160562"/>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pPr>
            <a:endParaRPr lang="en-US" sz="2000" dirty="0">
              <a:latin typeface="Cambria" panose="02040503050406030204" pitchFamily="18" charset="0"/>
              <a:ea typeface="Cambria" panose="02040503050406030204" pitchFamily="18" charset="0"/>
            </a:endParaRPr>
          </a:p>
          <a:p>
            <a:pPr marL="495300" indent="-342900">
              <a:spcBef>
                <a:spcPts val="0"/>
              </a:spcBef>
            </a:pPr>
            <a:r>
              <a:rPr lang="en-US" altLang="en-US" dirty="0">
                <a:latin typeface="Cambria" panose="02040503050406030204" pitchFamily="18" charset="0"/>
                <a:ea typeface="Cambria" panose="02040503050406030204" pitchFamily="18" charset="0"/>
              </a:rPr>
              <a:t>[1] S. S. Navghane, M. S. Killedar, and V. M. Rohokale, "IoT based smart garbage and waste collection bin," International Journal of Advanced Research in Electronics and Communication Engineering (IJARECE), vol. 5, no. 5,, May 2016.</a:t>
            </a:r>
            <a:endParaRPr lang="en-US" altLang="en-US" dirty="0">
              <a:latin typeface="Cambria" panose="02040503050406030204" pitchFamily="18" charset="0"/>
              <a:ea typeface="Cambria" panose="02040503050406030204" pitchFamily="18" charset="0"/>
            </a:endParaRPr>
          </a:p>
          <a:p>
            <a:pPr marL="495300" indent="-342900">
              <a:spcBef>
                <a:spcPts val="0"/>
              </a:spcBef>
            </a:pPr>
            <a:endParaRPr lang="en-US" altLang="en-US" dirty="0">
              <a:latin typeface="Cambria" panose="02040503050406030204" pitchFamily="18" charset="0"/>
              <a:ea typeface="Cambria" panose="02040503050406030204" pitchFamily="18" charset="0"/>
            </a:endParaRPr>
          </a:p>
          <a:p>
            <a:pPr marL="495300" indent="-342900">
              <a:spcBef>
                <a:spcPts val="0"/>
              </a:spcBef>
            </a:pPr>
            <a:r>
              <a:rPr lang="en-US" altLang="en-US" dirty="0">
                <a:latin typeface="Cambria" panose="02040503050406030204" pitchFamily="18" charset="0"/>
                <a:ea typeface="Cambria" panose="02040503050406030204" pitchFamily="18" charset="0"/>
              </a:rPr>
              <a:t>[2] A. F. M. Sultan, M. R. I. Faruque, and M. A. Rashid, "Smart waste management system using IoT," in Proc. 3rd Int. Conf. Electrical Engineering and Information Communication Technology (ICEEICT), Dhaka, Bangladesh, 2016</a:t>
            </a:r>
            <a:r>
              <a:rPr lang="en-IN" altLang="en-US" dirty="0">
                <a:latin typeface="Cambria" panose="02040503050406030204" pitchFamily="18" charset="0"/>
                <a:ea typeface="Cambria" panose="02040503050406030204" pitchFamily="18" charset="0"/>
              </a:rPr>
              <a:t>.</a:t>
            </a:r>
            <a:endParaRPr lang="en-US" altLang="en-US" dirty="0">
              <a:latin typeface="Cambria" panose="02040503050406030204" pitchFamily="18" charset="0"/>
              <a:ea typeface="Cambria" panose="02040503050406030204" pitchFamily="18" charset="0"/>
            </a:endParaRPr>
          </a:p>
          <a:p>
            <a:pPr marL="495300" indent="-342900">
              <a:spcBef>
                <a:spcPts val="0"/>
              </a:spcBef>
            </a:pPr>
            <a:endParaRPr lang="en-US" altLang="en-US" dirty="0">
              <a:latin typeface="Cambria" panose="02040503050406030204" pitchFamily="18" charset="0"/>
              <a:ea typeface="Cambria" panose="02040503050406030204" pitchFamily="18" charset="0"/>
            </a:endParaRPr>
          </a:p>
          <a:p>
            <a:pPr marL="495300" indent="-342900">
              <a:spcBef>
                <a:spcPts val="0"/>
              </a:spcBef>
            </a:pPr>
            <a:r>
              <a:rPr lang="en-US" altLang="en-US" dirty="0">
                <a:latin typeface="Cambria" panose="02040503050406030204" pitchFamily="18" charset="0"/>
                <a:ea typeface="Cambria" panose="02040503050406030204" pitchFamily="18" charset="0"/>
              </a:rPr>
              <a:t>[3] N. Sharma and A. Kumar, "AI-driven waste segregation and recycling management," IEEE Access, , 2020.</a:t>
            </a:r>
            <a:endParaRPr lang="en-US" altLang="en-US" dirty="0">
              <a:latin typeface="Cambria" panose="02040503050406030204" pitchFamily="18" charset="0"/>
              <a:ea typeface="Cambria" panose="02040503050406030204" pitchFamily="18" charset="0"/>
            </a:endParaRPr>
          </a:p>
          <a:p>
            <a:pPr marL="495300" indent="-342900">
              <a:spcBef>
                <a:spcPts val="0"/>
              </a:spcBef>
            </a:pPr>
            <a:endParaRPr lang="en-US" altLang="en-US" dirty="0">
              <a:latin typeface="Cambria" panose="02040503050406030204" pitchFamily="18" charset="0"/>
              <a:ea typeface="Cambria" panose="02040503050406030204" pitchFamily="18" charset="0"/>
            </a:endParaRPr>
          </a:p>
          <a:p>
            <a:pPr marL="495300" indent="-342900">
              <a:spcBef>
                <a:spcPts val="0"/>
              </a:spcBef>
            </a:pPr>
            <a:endParaRPr lang="en-IN" altLang="en-US"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6900</Words>
  <Application>WPS Presentation</Application>
  <PresentationFormat>Widescreen</PresentationFormat>
  <Paragraphs>157</Paragraphs>
  <Slides>13</Slides>
  <Notes>16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Arial</vt:lpstr>
      <vt:lpstr>Verdana</vt:lpstr>
      <vt:lpstr>Bookman Old Style</vt:lpstr>
      <vt:lpstr>Cambria</vt:lpstr>
      <vt:lpstr>Microsoft YaHei</vt:lpstr>
      <vt:lpstr>Arial Unicode MS</vt:lpstr>
      <vt:lpstr>Times New Roman</vt:lpstr>
      <vt:lpstr>Bookman Old Style</vt:lpstr>
      <vt:lpstr>Calibri</vt:lpstr>
      <vt:lpstr>Bradley Hand ITC</vt:lpstr>
      <vt:lpstr>Book Antiqua</vt:lpstr>
      <vt:lpstr>Bodoni MT Poster Compressed</vt:lpstr>
      <vt:lpstr>STLiti</vt:lpstr>
      <vt:lpstr>Bioinformatics</vt:lpstr>
      <vt:lpstr>Freelancer  Platform</vt:lpstr>
      <vt:lpstr>Problem Statement Number: </vt:lpstr>
      <vt:lpstr>Content</vt:lpstr>
      <vt:lpstr>Analysis of Problem Statement:</vt:lpstr>
      <vt:lpstr>Objectives:</vt:lpstr>
      <vt:lpstr>Background and Related Work:</vt:lpstr>
      <vt:lpstr> Analysis of Problem Statement:</vt:lpstr>
      <vt:lpstr>Innovation / Novel Contributions:</vt:lpstr>
      <vt:lpstr>Innovation / Novel Contributions:</vt:lpstr>
      <vt:lpstr>Github Link</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Joyson CSE0531</cp:lastModifiedBy>
  <cp:revision>41</cp:revision>
  <dcterms:created xsi:type="dcterms:W3CDTF">2025-08-12T15:02:02Z</dcterms:created>
  <dcterms:modified xsi:type="dcterms:W3CDTF">2025-08-12T17:00:32Z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C81FE8ED9BCD4A04A0C687E589D985F8_12</vt:lpwstr>
  </property>
  <property fmtid="{D5CDD505-2E9C-101B-9397-08002B2CF9AE}" pid="3" name="KSOProductBuildVer">
    <vt:lpwstr>1033-12.2.0.21931</vt:lpwstr>
  </property>
</Properties>
</file>